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3"/>
  </p:handoutMasterIdLst>
  <p:sldIdLst>
    <p:sldId id="257" r:id="rId2"/>
  </p:sldIdLst>
  <p:sldSz cx="7497763" cy="128016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32">
          <p15:clr>
            <a:srgbClr val="A4A3A4"/>
          </p15:clr>
        </p15:guide>
        <p15:guide id="2" pos="236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  <a:srgbClr val="0033CC"/>
    <a:srgbClr val="FFFF99"/>
    <a:srgbClr val="FFFF00"/>
    <a:srgbClr val="FF0000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3264" y="29"/>
      </p:cViewPr>
      <p:guideLst>
        <p:guide orient="horz" pos="4032"/>
        <p:guide pos="236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7AD827EB-32E3-49D6-9B85-42CB19525AC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612" tIns="40306" rIns="80612" bIns="40306" numCol="1" anchor="t" anchorCtr="0" compatLnSpc="1">
            <a:prstTxWarp prst="textNoShape">
              <a:avLst/>
            </a:prstTxWarp>
          </a:bodyPr>
          <a:lstStyle>
            <a:lvl1pPr defTabSz="806890" eaLnBrk="0" hangingPunct="0"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F1C36FA-C97B-4FA7-BEBB-9D2255C8BF4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375" y="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612" tIns="40306" rIns="80612" bIns="40306" numCol="1" anchor="t" anchorCtr="0" compatLnSpc="1">
            <a:prstTxWarp prst="textNoShape">
              <a:avLst/>
            </a:prstTxWarp>
          </a:bodyPr>
          <a:lstStyle>
            <a:lvl1pPr algn="r" defTabSz="806890" eaLnBrk="0" hangingPunct="0">
              <a:defRPr sz="1000"/>
            </a:lvl1pPr>
          </a:lstStyle>
          <a:p>
            <a:pPr>
              <a:defRPr/>
            </a:pPr>
            <a:fld id="{DF223297-35CB-4531-8B96-BD80367B2BD7}" type="datetimeFigureOut">
              <a:rPr lang="en-US" altLang="en-US"/>
              <a:pPr>
                <a:defRPr/>
              </a:pPr>
              <a:t>9/8/2026</a:t>
            </a:fld>
            <a:endParaRPr lang="en-US" altLang="en-US"/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1CDD61BB-4A46-4E9D-A4D5-B7F25D386FC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1860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612" tIns="40306" rIns="80612" bIns="40306" numCol="1" anchor="b" anchorCtr="0" compatLnSpc="1">
            <a:prstTxWarp prst="textNoShape">
              <a:avLst/>
            </a:prstTxWarp>
          </a:bodyPr>
          <a:lstStyle>
            <a:lvl1pPr defTabSz="806890" eaLnBrk="0" hangingPunct="0">
              <a:defRPr sz="10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72180DEB-C412-44DD-B38E-89161BE9805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375" y="9118600"/>
            <a:ext cx="3170238" cy="4810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80612" tIns="40306" rIns="80612" bIns="40306" numCol="1" anchor="b" anchorCtr="0" compatLnSpc="1">
            <a:prstTxWarp prst="textNoShape">
              <a:avLst/>
            </a:prstTxWarp>
          </a:bodyPr>
          <a:lstStyle>
            <a:lvl1pPr algn="r" defTabSz="806890" eaLnBrk="0" hangingPunct="0">
              <a:defRPr sz="1000"/>
            </a:lvl1pPr>
          </a:lstStyle>
          <a:p>
            <a:pPr>
              <a:defRPr/>
            </a:pPr>
            <a:fld id="{85B909B8-F169-47D1-92B7-BDA703CBB0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975" y="3976688"/>
            <a:ext cx="6373813" cy="27447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3950" y="7254875"/>
            <a:ext cx="5249863" cy="32702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314A085-D5C6-46E9-919B-13654CA111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6D9935-EAFC-4D6E-BE3B-57AF8B46214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5ED0197-B269-488A-9473-48568406FB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2DB49B-7231-4F71-BCBC-9A464E2E89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0542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9DB3DB4-381E-4C68-B2BE-395907529F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5BE59DD-4B65-4254-A4BE-81C47AD319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A86CFB-C3E2-4A07-A74E-16605CDE11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C4D4C0-6E38-45DF-9770-D0AFEEBE29B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46763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138" y="8226425"/>
            <a:ext cx="6373812" cy="254158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2138" y="5426075"/>
            <a:ext cx="6373812" cy="280035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9EDFC2F-1595-46F7-845F-E3B2E26D3E6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387AC5A-64AF-422B-8541-66D5E29376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A1CCA9-4EBE-4161-AD06-709548CD0C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1087B9-C9A9-4ACE-BF8F-34420D9A6C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013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6238" y="2986088"/>
            <a:ext cx="3295650" cy="8450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4288" y="2986088"/>
            <a:ext cx="3297237" cy="84502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9F90BB-BAD0-4F19-933A-D976D46C9A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5B382F-8137-4675-AAF9-5ED460B77E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277F46-9E22-4715-B4C9-8B7A05F825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F91983-709F-436A-95EF-3310A08641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6654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0" y="512763"/>
            <a:ext cx="6748463" cy="21336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650" y="2865438"/>
            <a:ext cx="3313113" cy="11938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4650" y="4059238"/>
            <a:ext cx="3313113" cy="73755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08413" y="2865438"/>
            <a:ext cx="3314700" cy="11938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08413" y="4059238"/>
            <a:ext cx="3314700" cy="73755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091AC31-267B-4A45-B431-EC6AD3816F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594992AF-70A1-4748-B012-E31B8857715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A6C473F6-55FD-42EC-B35D-0CBD258B96E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5602A7-75A6-419E-B1AF-624D276714D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94419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6A0654D-7B1A-486D-B000-3C8BE8D291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EE181A6-25C7-457C-8F4A-6CD37E78AD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E17AD88-0212-45FF-8AA7-7D3CEE5F6E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38773E-A55C-42E9-AF28-CCFC2C71C0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263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D4B3F0C-9FFA-4F0C-8542-F4FD668037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8E0939B-7581-4091-B779-FBB7AC669E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DBB013E-E20A-4098-BBDF-F3AF9F17E6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AC5FDD-BAE2-43BB-BD1C-9C9294B6DC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641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650" y="509588"/>
            <a:ext cx="2466975" cy="21685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2113" y="509588"/>
            <a:ext cx="4191000" cy="1092517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4650" y="2678113"/>
            <a:ext cx="2466975" cy="87566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8F409B-F282-4E7A-8FC7-F8D5B1F6BC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D99EB9-5F36-45B9-AB96-100CA9ED1C1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AD553C-0618-4F26-A434-F5D9136032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531C72-0E3F-4752-AC28-35A2D87422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21167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0025" y="8961438"/>
            <a:ext cx="4498975" cy="10572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470025" y="1144588"/>
            <a:ext cx="4498975" cy="76803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0025" y="10018713"/>
            <a:ext cx="4498975" cy="15033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4E59D8-BB01-43CF-A169-5ECBE881AF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5ECCA5-211C-4CE0-A2C2-CAAC8E1600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0E46BF-6032-4CE5-9F26-FA9BD6063B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388F0D-3A56-4064-BA6E-7AC24FFA50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9175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113816A-2191-40AC-AB90-04665F69BF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F1751AB-4476-45A9-8EB6-FC66289AC0A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553CAD7-6CC0-4CEE-810C-255C907ECD6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D11C58-5E66-4D4B-B257-FB7AC7C9D1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7506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35600" y="515938"/>
            <a:ext cx="1685925" cy="109204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6238" y="515938"/>
            <a:ext cx="4906962" cy="109204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3F7349-397A-42C8-8456-B98DBA16338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FA6E17D-AED9-4D2F-B807-2BEF5AFF56C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FBAA5EA-8999-41AF-BD8D-2DB05F45E5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120CB4-3C70-4155-A932-BA7CBAA2EE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653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0DB5471-C76B-400E-A876-C9E868FD52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76238" y="515938"/>
            <a:ext cx="6745287" cy="213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14930" tIns="57464" rIns="114930" bIns="5746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19134FF-1D01-4F07-A5E4-6E4AD79AF6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76238" y="2986088"/>
            <a:ext cx="6745287" cy="845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14930" tIns="57464" rIns="114930" bIns="5746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BE453E3-5516-4BAC-8816-44948F460FC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76238" y="11658600"/>
            <a:ext cx="1747837" cy="89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14930" tIns="57464" rIns="114930" bIns="5746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8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6E5B4F9-DA61-4255-8B9C-67887082713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60638" y="11658600"/>
            <a:ext cx="2376487" cy="89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14930" tIns="57464" rIns="114930" bIns="57464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8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E9904FB-8759-47C9-A75B-39DE9F3027E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373688" y="11658600"/>
            <a:ext cx="1747837" cy="89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14930" tIns="57464" rIns="114930" bIns="5746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800"/>
            </a:lvl1pPr>
          </a:lstStyle>
          <a:p>
            <a:pPr>
              <a:defRPr/>
            </a:pPr>
            <a:fld id="{75B575B3-2143-4E07-B513-F03FD0AAA7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149350" rtl="0" eaLnBrk="0" fontAlgn="base" hangingPunct="0">
        <a:spcBef>
          <a:spcPct val="0"/>
        </a:spcBef>
        <a:spcAft>
          <a:spcPct val="0"/>
        </a:spcAft>
        <a:defRPr sz="55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149350" rtl="0" eaLnBrk="0" fontAlgn="base" hangingPunct="0">
        <a:spcBef>
          <a:spcPct val="0"/>
        </a:spcBef>
        <a:spcAft>
          <a:spcPct val="0"/>
        </a:spcAft>
        <a:defRPr sz="5500">
          <a:solidFill>
            <a:schemeClr val="tx2"/>
          </a:solidFill>
          <a:latin typeface="Arial" charset="0"/>
        </a:defRPr>
      </a:lvl2pPr>
      <a:lvl3pPr algn="ctr" defTabSz="1149350" rtl="0" eaLnBrk="0" fontAlgn="base" hangingPunct="0">
        <a:spcBef>
          <a:spcPct val="0"/>
        </a:spcBef>
        <a:spcAft>
          <a:spcPct val="0"/>
        </a:spcAft>
        <a:defRPr sz="5500">
          <a:solidFill>
            <a:schemeClr val="tx2"/>
          </a:solidFill>
          <a:latin typeface="Arial" charset="0"/>
        </a:defRPr>
      </a:lvl3pPr>
      <a:lvl4pPr algn="ctr" defTabSz="1149350" rtl="0" eaLnBrk="0" fontAlgn="base" hangingPunct="0">
        <a:spcBef>
          <a:spcPct val="0"/>
        </a:spcBef>
        <a:spcAft>
          <a:spcPct val="0"/>
        </a:spcAft>
        <a:defRPr sz="5500">
          <a:solidFill>
            <a:schemeClr val="tx2"/>
          </a:solidFill>
          <a:latin typeface="Arial" charset="0"/>
        </a:defRPr>
      </a:lvl4pPr>
      <a:lvl5pPr algn="ctr" defTabSz="1149350" rtl="0" eaLnBrk="0" fontAlgn="base" hangingPunct="0">
        <a:spcBef>
          <a:spcPct val="0"/>
        </a:spcBef>
        <a:spcAft>
          <a:spcPct val="0"/>
        </a:spcAft>
        <a:defRPr sz="5500">
          <a:solidFill>
            <a:schemeClr val="tx2"/>
          </a:solidFill>
          <a:latin typeface="Arial" charset="0"/>
        </a:defRPr>
      </a:lvl5pPr>
      <a:lvl6pPr marL="457200" algn="ctr" defTabSz="1149350" rtl="0" fontAlgn="base">
        <a:spcBef>
          <a:spcPct val="0"/>
        </a:spcBef>
        <a:spcAft>
          <a:spcPct val="0"/>
        </a:spcAft>
        <a:defRPr sz="5500">
          <a:solidFill>
            <a:schemeClr val="tx2"/>
          </a:solidFill>
          <a:latin typeface="Arial" charset="0"/>
        </a:defRPr>
      </a:lvl6pPr>
      <a:lvl7pPr marL="914400" algn="ctr" defTabSz="1149350" rtl="0" fontAlgn="base">
        <a:spcBef>
          <a:spcPct val="0"/>
        </a:spcBef>
        <a:spcAft>
          <a:spcPct val="0"/>
        </a:spcAft>
        <a:defRPr sz="5500">
          <a:solidFill>
            <a:schemeClr val="tx2"/>
          </a:solidFill>
          <a:latin typeface="Arial" charset="0"/>
        </a:defRPr>
      </a:lvl7pPr>
      <a:lvl8pPr marL="1371600" algn="ctr" defTabSz="1149350" rtl="0" fontAlgn="base">
        <a:spcBef>
          <a:spcPct val="0"/>
        </a:spcBef>
        <a:spcAft>
          <a:spcPct val="0"/>
        </a:spcAft>
        <a:defRPr sz="5500">
          <a:solidFill>
            <a:schemeClr val="tx2"/>
          </a:solidFill>
          <a:latin typeface="Arial" charset="0"/>
        </a:defRPr>
      </a:lvl8pPr>
      <a:lvl9pPr marL="1828800" algn="ctr" defTabSz="1149350" rtl="0" fontAlgn="base">
        <a:spcBef>
          <a:spcPct val="0"/>
        </a:spcBef>
        <a:spcAft>
          <a:spcPct val="0"/>
        </a:spcAft>
        <a:defRPr sz="5500">
          <a:solidFill>
            <a:schemeClr val="tx2"/>
          </a:solidFill>
          <a:latin typeface="Arial" charset="0"/>
        </a:defRPr>
      </a:lvl9pPr>
    </p:titleStyle>
    <p:bodyStyle>
      <a:lvl1pPr marL="433388" indent="-433388" algn="l" defTabSz="1149350" rtl="0" eaLnBrk="0" fontAlgn="base" hangingPunct="0">
        <a:spcBef>
          <a:spcPct val="20000"/>
        </a:spcBef>
        <a:spcAft>
          <a:spcPct val="0"/>
        </a:spcAft>
        <a:buChar char="•"/>
        <a:defRPr sz="4100">
          <a:solidFill>
            <a:schemeClr val="tx1"/>
          </a:solidFill>
          <a:latin typeface="+mn-lt"/>
          <a:ea typeface="+mn-ea"/>
          <a:cs typeface="+mn-cs"/>
        </a:defRPr>
      </a:lvl1pPr>
      <a:lvl2pPr marL="935038" indent="-358775" algn="l" defTabSz="1149350" rtl="0" eaLnBrk="0" fontAlgn="base" hangingPunct="0">
        <a:spcBef>
          <a:spcPct val="20000"/>
        </a:spcBef>
        <a:spcAft>
          <a:spcPct val="0"/>
        </a:spcAft>
        <a:buChar char="–"/>
        <a:defRPr sz="3500">
          <a:solidFill>
            <a:schemeClr val="tx1"/>
          </a:solidFill>
          <a:latin typeface="+mn-lt"/>
        </a:defRPr>
      </a:lvl2pPr>
      <a:lvl3pPr marL="1436688" indent="-287338" algn="l" defTabSz="1149350" rtl="0" eaLnBrk="0" fontAlgn="base" hangingPunct="0">
        <a:spcBef>
          <a:spcPct val="20000"/>
        </a:spcBef>
        <a:spcAft>
          <a:spcPct val="0"/>
        </a:spcAft>
        <a:buChar char="•"/>
        <a:defRPr sz="3100">
          <a:solidFill>
            <a:schemeClr val="tx1"/>
          </a:solidFill>
          <a:latin typeface="+mn-lt"/>
        </a:defRPr>
      </a:lvl3pPr>
      <a:lvl4pPr marL="2011363" indent="-285750" algn="l" defTabSz="1149350" rtl="0" eaLnBrk="0" fontAlgn="base" hangingPunct="0">
        <a:spcBef>
          <a:spcPct val="20000"/>
        </a:spcBef>
        <a:spcAft>
          <a:spcPct val="0"/>
        </a:spcAft>
        <a:buChar char="–"/>
        <a:defRPr sz="2500">
          <a:solidFill>
            <a:schemeClr val="tx1"/>
          </a:solidFill>
          <a:latin typeface="+mn-lt"/>
        </a:defRPr>
      </a:lvl4pPr>
      <a:lvl5pPr marL="2584450" indent="-287338" algn="l" defTabSz="1149350" rtl="0" eaLnBrk="0" fontAlgn="base" hangingPunct="0">
        <a:spcBef>
          <a:spcPct val="20000"/>
        </a:spcBef>
        <a:spcAft>
          <a:spcPct val="0"/>
        </a:spcAft>
        <a:buChar char="»"/>
        <a:defRPr sz="2500">
          <a:solidFill>
            <a:schemeClr val="tx1"/>
          </a:solidFill>
          <a:latin typeface="+mn-lt"/>
        </a:defRPr>
      </a:lvl5pPr>
      <a:lvl6pPr marL="3041650" indent="-287338" algn="l" defTabSz="1149350" rtl="0" fontAlgn="base">
        <a:spcBef>
          <a:spcPct val="20000"/>
        </a:spcBef>
        <a:spcAft>
          <a:spcPct val="0"/>
        </a:spcAft>
        <a:buChar char="»"/>
        <a:defRPr sz="2500">
          <a:solidFill>
            <a:schemeClr val="tx1"/>
          </a:solidFill>
          <a:latin typeface="+mn-lt"/>
        </a:defRPr>
      </a:lvl6pPr>
      <a:lvl7pPr marL="3498850" indent="-287338" algn="l" defTabSz="1149350" rtl="0" fontAlgn="base">
        <a:spcBef>
          <a:spcPct val="20000"/>
        </a:spcBef>
        <a:spcAft>
          <a:spcPct val="0"/>
        </a:spcAft>
        <a:buChar char="»"/>
        <a:defRPr sz="2500">
          <a:solidFill>
            <a:schemeClr val="tx1"/>
          </a:solidFill>
          <a:latin typeface="+mn-lt"/>
        </a:defRPr>
      </a:lvl7pPr>
      <a:lvl8pPr marL="3956050" indent="-287338" algn="l" defTabSz="1149350" rtl="0" fontAlgn="base">
        <a:spcBef>
          <a:spcPct val="20000"/>
        </a:spcBef>
        <a:spcAft>
          <a:spcPct val="0"/>
        </a:spcAft>
        <a:buChar char="»"/>
        <a:defRPr sz="2500">
          <a:solidFill>
            <a:schemeClr val="tx1"/>
          </a:solidFill>
          <a:latin typeface="+mn-lt"/>
        </a:defRPr>
      </a:lvl8pPr>
      <a:lvl9pPr marL="4413250" indent="-287338" algn="l" defTabSz="1149350" rtl="0" fontAlgn="base">
        <a:spcBef>
          <a:spcPct val="20000"/>
        </a:spcBef>
        <a:spcAft>
          <a:spcPct val="0"/>
        </a:spcAft>
        <a:buChar char="»"/>
        <a:defRPr sz="25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ubtitle 12">
            <a:extLst>
              <a:ext uri="{FF2B5EF4-FFF2-40B4-BE49-F238E27FC236}">
                <a16:creationId xmlns:a16="http://schemas.microsoft.com/office/drawing/2014/main" id="{360EFFD8-A5D3-42D3-83DF-E85E4247F35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0" y="0"/>
            <a:ext cx="7497763" cy="12801600"/>
          </a:xfrm>
          <a:solidFill>
            <a:srgbClr val="FFFF99"/>
          </a:solidFill>
        </p:spPr>
        <p:txBody>
          <a:bodyPr/>
          <a:lstStyle/>
          <a:p>
            <a:pPr marL="0" indent="0" algn="ctr" eaLnBrk="1" hangingPunct="1">
              <a:lnSpc>
                <a:spcPct val="80000"/>
              </a:lnSpc>
              <a:buFontTx/>
              <a:buNone/>
            </a:pPr>
            <a:endParaRPr lang="en-CA" altLang="en-US" sz="1700" b="1">
              <a:solidFill>
                <a:srgbClr val="FFFF00"/>
              </a:solidFill>
            </a:endParaRPr>
          </a:p>
          <a:p>
            <a:pPr marL="0" indent="0" algn="ctr" eaLnBrk="1" hangingPunct="1">
              <a:lnSpc>
                <a:spcPct val="80000"/>
              </a:lnSpc>
              <a:buFontTx/>
              <a:buNone/>
            </a:pPr>
            <a:endParaRPr lang="en-CA" altLang="en-US" sz="2500" b="1">
              <a:latin typeface="Bradley Hand ITC" panose="03070402050302030203" pitchFamily="66" charset="0"/>
              <a:cs typeface="Arial" panose="020B0604020202020204" pitchFamily="34" charset="0"/>
            </a:endParaRPr>
          </a:p>
          <a:p>
            <a:pPr marL="0" indent="0" algn="ctr" eaLnBrk="1" hangingPunct="1">
              <a:lnSpc>
                <a:spcPct val="80000"/>
              </a:lnSpc>
              <a:buFontTx/>
              <a:buNone/>
            </a:pPr>
            <a:endParaRPr lang="en-CA" altLang="en-US" sz="2500" b="1">
              <a:solidFill>
                <a:srgbClr val="FFFF00"/>
              </a:solidFill>
            </a:endParaRPr>
          </a:p>
          <a:p>
            <a:pPr marL="0" indent="0" algn="ctr" eaLnBrk="1" hangingPunct="1">
              <a:lnSpc>
                <a:spcPct val="80000"/>
              </a:lnSpc>
              <a:buFontTx/>
              <a:buNone/>
            </a:pPr>
            <a:endParaRPr lang="en-CA" altLang="en-US" sz="2500" b="1"/>
          </a:p>
        </p:txBody>
      </p:sp>
      <p:sp>
        <p:nvSpPr>
          <p:cNvPr id="3075" name="Rectangle 9">
            <a:extLst>
              <a:ext uri="{FF2B5EF4-FFF2-40B4-BE49-F238E27FC236}">
                <a16:creationId xmlns:a16="http://schemas.microsoft.com/office/drawing/2014/main" id="{00218D03-5723-41DC-A93E-C334D989C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1113" y="4495800"/>
            <a:ext cx="228601" cy="449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14930" tIns="57464" rIns="114930" bIns="57464" anchor="ctr">
            <a:spAutoFit/>
          </a:bodyPr>
          <a:lstStyle>
            <a:lvl1pPr defTabSz="1149350">
              <a:spcBef>
                <a:spcPct val="20000"/>
              </a:spcBef>
              <a:buChar char="•"/>
              <a:defRPr sz="4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149350">
              <a:spcBef>
                <a:spcPct val="20000"/>
              </a:spcBef>
              <a:buChar char="–"/>
              <a:defRPr sz="3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14935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1493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149350">
              <a:spcBef>
                <a:spcPct val="20000"/>
              </a:spcBef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CA" altLang="en-US" sz="2200">
              <a:cs typeface="Arial" panose="020B0604020202020204" pitchFamily="34" charset="0"/>
            </a:endParaRPr>
          </a:p>
        </p:txBody>
      </p:sp>
      <p:sp>
        <p:nvSpPr>
          <p:cNvPr id="3076" name="Text Box 12">
            <a:extLst>
              <a:ext uri="{FF2B5EF4-FFF2-40B4-BE49-F238E27FC236}">
                <a16:creationId xmlns:a16="http://schemas.microsoft.com/office/drawing/2014/main" id="{415F90A9-2597-4508-9331-43F6DA86A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79388" y="2003425"/>
            <a:ext cx="7810501" cy="302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4930" tIns="57464" rIns="114930" bIns="57464">
            <a:spAutoFit/>
          </a:bodyPr>
          <a:lstStyle>
            <a:lvl1pPr defTabSz="1149350">
              <a:spcBef>
                <a:spcPct val="20000"/>
              </a:spcBef>
              <a:buChar char="•"/>
              <a:defRPr sz="4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149350">
              <a:spcBef>
                <a:spcPct val="20000"/>
              </a:spcBef>
              <a:buChar char="–"/>
              <a:defRPr sz="3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14935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1493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149350">
              <a:spcBef>
                <a:spcPct val="20000"/>
              </a:spcBef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 dirty="0">
                <a:latin typeface="Monotype Corsiva" panose="03010101010201010101" pitchFamily="66" charset="0"/>
                <a:cs typeface="Arial" panose="020B0604020202020204" pitchFamily="34" charset="0"/>
              </a:rPr>
              <a:t>INDIA CANADA CULTURAL &amp; HERITAGE ASSOCIATION INC.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 dirty="0">
                <a:latin typeface="Agency FB" panose="020B0503020202020204" pitchFamily="34" charset="0"/>
                <a:cs typeface="Arial" panose="020B0604020202020204" pitchFamily="34" charset="0"/>
              </a:rPr>
              <a:t>invites you to the</a:t>
            </a:r>
            <a:r>
              <a:rPr lang="en-US" altLang="en-US" sz="4000" b="1" dirty="0">
                <a:latin typeface="Monotype Corsiva" panose="03010101010201010101" pitchFamily="66" charset="0"/>
                <a:cs typeface="Arial" panose="020B0604020202020204" pitchFamily="34" charset="0"/>
              </a:rPr>
              <a:t>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4000" b="1" dirty="0">
              <a:latin typeface="Monotype Corsiva" panose="03010101010201010101" pitchFamily="66" charset="0"/>
              <a:cs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3100" b="1" dirty="0">
              <a:cs typeface="Arial" panose="020B0604020202020204" pitchFamily="34" charset="0"/>
            </a:endParaRPr>
          </a:p>
        </p:txBody>
      </p:sp>
      <p:sp>
        <p:nvSpPr>
          <p:cNvPr id="3077" name="Text Box 10">
            <a:extLst>
              <a:ext uri="{FF2B5EF4-FFF2-40B4-BE49-F238E27FC236}">
                <a16:creationId xmlns:a16="http://schemas.microsoft.com/office/drawing/2014/main" id="{C93C0731-C897-4A32-A915-C16A5703B6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488" y="4495800"/>
            <a:ext cx="7329487" cy="3532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4930" tIns="57464" rIns="114930" bIns="57464">
            <a:spAutoFit/>
          </a:bodyPr>
          <a:lstStyle>
            <a:lvl1pPr defTabSz="1149350">
              <a:spcBef>
                <a:spcPct val="20000"/>
              </a:spcBef>
              <a:buChar char="•"/>
              <a:defRPr sz="4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149350">
              <a:spcBef>
                <a:spcPct val="20000"/>
              </a:spcBef>
              <a:buChar char="–"/>
              <a:defRPr sz="3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14935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1493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149350">
              <a:spcBef>
                <a:spcPct val="20000"/>
              </a:spcBef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"/>
              </a:spcBef>
            </a:pP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 Dr. Mario Pinto: </a:t>
            </a: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</a:rPr>
              <a:t>Distinguished Leadership Award</a:t>
            </a:r>
          </a:p>
          <a:p>
            <a:pPr algn="just" eaLnBrk="1" hangingPunct="1">
              <a:spcBef>
                <a:spcPct val="5000"/>
              </a:spcBef>
            </a:pP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 Hon. Kevin Lamoureux: </a:t>
            </a: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</a:rPr>
              <a:t>Distinguished Service Award</a:t>
            </a:r>
          </a:p>
          <a:p>
            <a:pPr algn="just" eaLnBrk="1" hangingPunct="1">
              <a:spcBef>
                <a:spcPct val="5000"/>
              </a:spcBef>
            </a:pP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 Dr. </a:t>
            </a:r>
            <a:r>
              <a:rPr lang="en-US" altLang="en-US" sz="2400" b="1" dirty="0" err="1">
                <a:solidFill>
                  <a:srgbClr val="FF000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Shyamala</a:t>
            </a: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Dakshinamurti</a:t>
            </a: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</a:rPr>
              <a:t>: Distinguished Service Award</a:t>
            </a:r>
          </a:p>
          <a:p>
            <a:pPr algn="just" eaLnBrk="1" hangingPunct="1">
              <a:spcBef>
                <a:spcPct val="5000"/>
              </a:spcBef>
            </a:pP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 Mrs. Manju Lodha: </a:t>
            </a: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</a:rPr>
              <a:t>Distinguished Service Award</a:t>
            </a:r>
          </a:p>
          <a:p>
            <a:pPr algn="just" eaLnBrk="1" hangingPunct="1">
              <a:spcBef>
                <a:spcPct val="5000"/>
              </a:spcBef>
            </a:pP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</a:rPr>
              <a:t> Mr. Mohinder Gandhi: Distinguished Service Award</a:t>
            </a:r>
          </a:p>
          <a:p>
            <a:pPr algn="just" eaLnBrk="1" hangingPunct="1">
              <a:spcBef>
                <a:spcPct val="5000"/>
              </a:spcBef>
            </a:pP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</a:rPr>
              <a:t> 9 Student Awards for Academic &amp; Sports Excellence in </a:t>
            </a:r>
            <a:r>
              <a:rPr lang="en-US" altLang="en-US" sz="2400" b="1" dirty="0" err="1">
                <a:solidFill>
                  <a:srgbClr val="FF0000"/>
                </a:solidFill>
                <a:latin typeface="Agency FB" panose="020B0503020202020204" pitchFamily="34" charset="0"/>
              </a:rPr>
              <a:t>honour</a:t>
            </a: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</a:rPr>
              <a:t> of: </a:t>
            </a: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</a:rPr>
              <a:t>(i) Dr. </a:t>
            </a:r>
            <a:r>
              <a:rPr lang="en-US" altLang="en-US" sz="2400" b="1" dirty="0" err="1">
                <a:solidFill>
                  <a:srgbClr val="FF0000"/>
                </a:solidFill>
                <a:latin typeface="Agency FB" panose="020B0503020202020204" pitchFamily="34" charset="0"/>
              </a:rPr>
              <a:t>Jagmit</a:t>
            </a: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</a:rPr>
              <a:t> Arneja; (ii) Dr. Sonny Dhalla; (iii) Kothari Family Foundation; (iv) Mrs. Ranjit Dhalla; (v) Sam &amp; Madhu Dhalla; (vi) Mr. </a:t>
            </a:r>
            <a:r>
              <a:rPr lang="en-US" altLang="en-US" sz="2400" b="1" dirty="0" err="1">
                <a:solidFill>
                  <a:srgbClr val="FF0000"/>
                </a:solidFill>
                <a:latin typeface="Agency FB" panose="020B0503020202020204" pitchFamily="34" charset="0"/>
              </a:rPr>
              <a:t>Kalwant</a:t>
            </a:r>
            <a:r>
              <a:rPr lang="en-US" altLang="en-US" sz="2400" b="1" dirty="0">
                <a:solidFill>
                  <a:srgbClr val="FF0000"/>
                </a:solidFill>
                <a:latin typeface="Agency FB" panose="020B0503020202020204" pitchFamily="34" charset="0"/>
              </a:rPr>
              <a:t> Dhalla; (vii); Jessie Pannu (viii) Kamta Roy Singh (2) </a:t>
            </a:r>
            <a:endParaRPr lang="en-US" altLang="en-US" sz="3100" b="1" dirty="0">
              <a:solidFill>
                <a:srgbClr val="FF0000"/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8" name="Picture 8" descr="iccha">
            <a:extLst>
              <a:ext uri="{FF2B5EF4-FFF2-40B4-BE49-F238E27FC236}">
                <a16:creationId xmlns:a16="http://schemas.microsoft.com/office/drawing/2014/main" id="{DEDD5819-CC1B-4300-879B-0F2E565FD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75" y="152400"/>
            <a:ext cx="2514600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9" name="Line 16">
            <a:extLst>
              <a:ext uri="{FF2B5EF4-FFF2-40B4-BE49-F238E27FC236}">
                <a16:creationId xmlns:a16="http://schemas.microsoft.com/office/drawing/2014/main" id="{DEC53569-B14B-48AC-BFBB-9E38945DDE4B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981200"/>
            <a:ext cx="7497763" cy="0"/>
          </a:xfrm>
          <a:prstGeom prst="line">
            <a:avLst/>
          </a:prstGeom>
          <a:noFill/>
          <a:ln w="3492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80" name="Text Box 17">
            <a:extLst>
              <a:ext uri="{FF2B5EF4-FFF2-40B4-BE49-F238E27FC236}">
                <a16:creationId xmlns:a16="http://schemas.microsoft.com/office/drawing/2014/main" id="{EA88A030-A4B8-4837-8BF4-A4D5176B9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3" y="3810000"/>
            <a:ext cx="7407275" cy="6700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4930" tIns="57464" rIns="114930" bIns="57464">
            <a:spAutoFit/>
          </a:bodyPr>
          <a:lstStyle>
            <a:lvl1pPr defTabSz="1149350">
              <a:spcBef>
                <a:spcPct val="20000"/>
              </a:spcBef>
              <a:buChar char="•"/>
              <a:defRPr sz="4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149350">
              <a:spcBef>
                <a:spcPct val="20000"/>
              </a:spcBef>
              <a:buChar char="–"/>
              <a:defRPr sz="3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14935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1493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149350">
              <a:spcBef>
                <a:spcPct val="20000"/>
              </a:spcBef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CA" altLang="en-US" sz="3600" dirty="0">
                <a:solidFill>
                  <a:srgbClr val="0000FF"/>
                </a:solidFill>
                <a:latin typeface="Berlin Sans FB" panose="020E0602020502020306" pitchFamily="34" charset="0"/>
              </a:rPr>
              <a:t>2026 GALA DINNER IN HONOUR OF</a:t>
            </a:r>
          </a:p>
        </p:txBody>
      </p:sp>
      <p:sp>
        <p:nvSpPr>
          <p:cNvPr id="3081" name="Rectangle 22">
            <a:extLst>
              <a:ext uri="{FF2B5EF4-FFF2-40B4-BE49-F238E27FC236}">
                <a16:creationId xmlns:a16="http://schemas.microsoft.com/office/drawing/2014/main" id="{6C7B9557-CB9C-4BB3-9225-3CF80C803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071100"/>
            <a:ext cx="7497763" cy="2724150"/>
          </a:xfrm>
          <a:prstGeom prst="rect">
            <a:avLst/>
          </a:prstGeom>
          <a:solidFill>
            <a:srgbClr val="0000FF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3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200"/>
          </a:p>
        </p:txBody>
      </p:sp>
      <p:sp>
        <p:nvSpPr>
          <p:cNvPr id="3082" name="Text Box 23">
            <a:extLst>
              <a:ext uri="{FF2B5EF4-FFF2-40B4-BE49-F238E27FC236}">
                <a16:creationId xmlns:a16="http://schemas.microsoft.com/office/drawing/2014/main" id="{0750FCE1-7B37-4D68-88F3-C5EFBC40D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688" y="10128250"/>
            <a:ext cx="7254875" cy="29783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14930" tIns="57464" rIns="114930" bIns="57464">
            <a:spAutoFit/>
          </a:bodyPr>
          <a:lstStyle>
            <a:lvl1pPr defTabSz="1149350">
              <a:spcBef>
                <a:spcPct val="20000"/>
              </a:spcBef>
              <a:buChar char="•"/>
              <a:defRPr sz="4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1149350">
              <a:spcBef>
                <a:spcPct val="20000"/>
              </a:spcBef>
              <a:buChar char="–"/>
              <a:defRPr sz="3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114935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11493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1149350">
              <a:spcBef>
                <a:spcPct val="20000"/>
              </a:spcBef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2000" b="1" i="1" dirty="0">
                <a:solidFill>
                  <a:srgbClr val="FFFF00"/>
                </a:solidFill>
              </a:rPr>
              <a:t>For purchase of dinner tickets ($100/person) and further information, please contact: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600" b="1" dirty="0">
                <a:solidFill>
                  <a:schemeClr val="bg1"/>
                </a:solidFill>
              </a:rPr>
              <a:t>Mrs. Jessie Pannu	       Mr. Manu Batish 	     Dr. Paramjit Tappia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600" b="1" dirty="0">
                <a:solidFill>
                  <a:schemeClr val="bg1"/>
                </a:solidFill>
              </a:rPr>
              <a:t>    204-881-8355	          204-558</a:t>
            </a:r>
            <a:r>
              <a:rPr lang="en-US" altLang="en-US" sz="1600" b="1" dirty="0">
                <a:solidFill>
                  <a:schemeClr val="bg1"/>
                </a:solidFill>
              </a:rPr>
              <a:t>-0415 	          </a:t>
            </a:r>
            <a:r>
              <a:rPr lang="en-CA" altLang="en-US" sz="1600" b="1" dirty="0">
                <a:solidFill>
                  <a:schemeClr val="bg1"/>
                </a:solidFill>
              </a:rPr>
              <a:t>204-254-2868  	    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600" b="1" dirty="0">
                <a:solidFill>
                  <a:schemeClr val="bg1"/>
                </a:solidFill>
              </a:rPr>
              <a:t>   Mr. Ken Eapen	     Mr. Narinder Kalkat	     Dr. Sanjiv Dhingra 	        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600" b="1" dirty="0">
                <a:solidFill>
                  <a:schemeClr val="bg1"/>
                </a:solidFill>
              </a:rPr>
              <a:t>    204-296-2673	         204-228-6666                  204-880-7712 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600" b="1" dirty="0">
                <a:solidFill>
                  <a:schemeClr val="bg1"/>
                </a:solidFill>
              </a:rPr>
              <a:t>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600" b="1" dirty="0">
                <a:solidFill>
                  <a:schemeClr val="bg1"/>
                </a:solidFill>
              </a:rPr>
              <a:t>Mr. Arvind Matharu 	 Dr. Gurinder Randhawa       Mr. Raj Sharma	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600" b="1" dirty="0">
                <a:solidFill>
                  <a:schemeClr val="bg1"/>
                </a:solidFill>
              </a:rPr>
              <a:t>    204-805-5565	         </a:t>
            </a:r>
            <a:r>
              <a:rPr lang="en-US" altLang="en-US" sz="1600" b="1" dirty="0">
                <a:solidFill>
                  <a:schemeClr val="bg1"/>
                </a:solidFill>
              </a:rPr>
              <a:t>204-960-3908</a:t>
            </a:r>
            <a:r>
              <a:rPr lang="en-CA" altLang="en-US" sz="1600" b="1" dirty="0">
                <a:solidFill>
                  <a:schemeClr val="bg1"/>
                </a:solidFill>
              </a:rPr>
              <a:t>	          204-963-7446</a:t>
            </a:r>
            <a:endParaRPr lang="en-CA" altLang="en-US" sz="1600" b="1" dirty="0">
              <a:solidFill>
                <a:srgbClr val="FFFF99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CA" altLang="en-US" sz="1800" b="1" dirty="0">
                <a:solidFill>
                  <a:srgbClr val="FFFF99"/>
                </a:solidFill>
              </a:rPr>
              <a:t>	           			</a:t>
            </a:r>
            <a:endParaRPr lang="en-US" altLang="en-US" sz="1800" b="1" dirty="0">
              <a:solidFill>
                <a:srgbClr val="FFFF99"/>
              </a:solidFill>
            </a:endParaRPr>
          </a:p>
        </p:txBody>
      </p:sp>
      <p:sp>
        <p:nvSpPr>
          <p:cNvPr id="3083" name="Text Box 14">
            <a:extLst>
              <a:ext uri="{FF2B5EF4-FFF2-40B4-BE49-F238E27FC236}">
                <a16:creationId xmlns:a16="http://schemas.microsoft.com/office/drawing/2014/main" id="{918E1432-8619-4A12-B20B-A3ADABBBD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81" y="8166318"/>
            <a:ext cx="71628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1149350">
              <a:spcBef>
                <a:spcPct val="20000"/>
              </a:spcBef>
              <a:buChar char="•"/>
              <a:defRPr sz="41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935038" indent="-358775" defTabSz="1149350">
              <a:spcBef>
                <a:spcPct val="20000"/>
              </a:spcBef>
              <a:buChar char="–"/>
              <a:defRPr sz="35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436688" indent="-287338" defTabSz="1149350">
              <a:spcBef>
                <a:spcPct val="20000"/>
              </a:spcBef>
              <a:buChar char="•"/>
              <a:defRPr sz="31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011363" indent="-285750" defTabSz="1149350">
              <a:spcBef>
                <a:spcPct val="20000"/>
              </a:spcBef>
              <a:buChar char="–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584450" indent="-287338" defTabSz="1149350">
              <a:spcBef>
                <a:spcPct val="20000"/>
              </a:spcBef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041650" indent="-287338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498850" indent="-287338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956050" indent="-287338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413250" indent="-287338" defTabSz="11493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5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altLang="en-US" sz="3400" b="1" dirty="0">
                <a:latin typeface="Monotype Corsiva" panose="03010101010201010101" pitchFamily="66" charset="0"/>
              </a:rPr>
              <a:t>Fort Garry Hotel, Grand Ballroom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altLang="en-US" sz="3400" b="1" dirty="0">
                <a:latin typeface="Monotype Corsiva" panose="03010101010201010101" pitchFamily="66" charset="0"/>
              </a:rPr>
              <a:t>222 Broadway, Winnipeg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altLang="en-US" sz="3400" b="1" dirty="0">
                <a:latin typeface="Monotype Corsiva" panose="03010101010201010101" pitchFamily="66" charset="0"/>
              </a:rPr>
              <a:t>Saturday, October 17 2026</a:t>
            </a:r>
          </a:p>
          <a:p>
            <a:pPr algn="ctr" eaLnBrk="1" hangingPunct="1">
              <a:lnSpc>
                <a:spcPct val="50000"/>
              </a:lnSpc>
              <a:spcBef>
                <a:spcPct val="50000"/>
              </a:spcBef>
              <a:buFontTx/>
              <a:buNone/>
            </a:pPr>
            <a:r>
              <a:rPr lang="en-US" altLang="en-US" sz="2400" b="1" dirty="0">
                <a:latin typeface="Monotype Corsiva" panose="03010101010201010101" pitchFamily="66" charset="0"/>
              </a:rPr>
              <a:t>Doors Open 6pm, Cash Bar, Complimentary Wine with Dinner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1493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114935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2325</TotalTime>
  <Words>263</Words>
  <Application>Microsoft Office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Agency FB</vt:lpstr>
      <vt:lpstr>Arial</vt:lpstr>
      <vt:lpstr>Berlin Sans FB</vt:lpstr>
      <vt:lpstr>Bradley Hand ITC</vt:lpstr>
      <vt:lpstr>Monotype Corsiva</vt:lpstr>
      <vt:lpstr>Default Design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ptappia</dc:creator>
  <cp:lastModifiedBy>Pram Tappia</cp:lastModifiedBy>
  <cp:revision>210</cp:revision>
  <cp:lastPrinted>2025-09-27T17:11:28Z</cp:lastPrinted>
  <dcterms:created xsi:type="dcterms:W3CDTF">2009-08-19T14:39:07Z</dcterms:created>
  <dcterms:modified xsi:type="dcterms:W3CDTF">2026-09-09T00:45:24Z</dcterms:modified>
</cp:coreProperties>
</file>